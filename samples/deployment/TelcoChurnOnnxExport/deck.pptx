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05432" cy="685800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59436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Databricks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5943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 i="0">
                <a:solidFill>
                  <a:srgbClr val="BDD7F0"/>
                </a:solidFill>
              </a:rPr>
              <a:t>+ AiDotNet → ONNX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5943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BDD7F0"/>
                </a:solidFill>
              </a:rPr>
              <a:t>Internal team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90CAF9"/>
                </a:solidFill>
              </a:rPr>
              <a:t>Backend devs · 60-90 min · v1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017" y="2286000"/>
            <a:ext cx="4389120" cy="22860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1">
                <a:solidFill>
                  <a:srgbClr val="1565C0"/>
                </a:solidFill>
              </a:rPr>
              <a:t>Train models in C#.
Deploy at scale in Spark.
Without rewriting your data pipeline.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 · Why we're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2157"/>
                </a:solidFill>
              </a:rPr>
              <a:t>Your stack is .NET. Your data is in Databricks.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 i="1">
                <a:solidFill>
                  <a:srgbClr val="5C6F7E"/>
                </a:solidFill>
              </a:rPr>
              <a:t>How do you ship a model trained in C# to a cluster that runs Python on JVM?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303520" cy="3657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5C6F7E"/>
                </a:solidFill>
              </a:rPr>
              <a:t>Today (without this session)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50292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•  Train in .NET
•  Hit a wall when ops asks where the model runs
•  Rewrite preprocessing in Python
•  Rewrite the model in PyTorch / TensorFlow
•  Hope it scores the same as the .NET original
•  Ship months 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5303520" cy="365760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After this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50292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•  Train in .NET (unchanged)
•  AiDotNet → .onnx file (one method call)
•  Upload .onnx to Databricks
•  Load + score in a notebook (today's demo)
•  Spark scales it across millions of rows
•  Ship this week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 · Why we're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3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0D2157"/>
                </a:solidFill>
              </a:rPr>
              <a:t>By the end of this session you'll be able to: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457200" cy="4114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452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D2157"/>
                </a:solidFill>
              </a:rPr>
              <a:t>Sign up for Databricks Free Edition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7452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1">
                <a:solidFill>
                  <a:srgbClr val="5C6F7E"/>
                </a:solidFill>
              </a:rPr>
              <a:t>5-minute signup, no credit 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457200" cy="4114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146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D2157"/>
                </a:solidFill>
              </a:rPr>
              <a:t>Navigate the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1460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1">
                <a:solidFill>
                  <a:srgbClr val="5C6F7E"/>
                </a:solidFill>
              </a:rPr>
              <a:t>find Catalog, Compute, Workflows, Experiments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457200" cy="4114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5468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5468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D2157"/>
                </a:solidFill>
              </a:rPr>
              <a:t>Import a notebook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5468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1">
                <a:solidFill>
                  <a:srgbClr val="5C6F7E"/>
                </a:solidFill>
              </a:rPr>
              <a:t>Workspace → Import (model + data embedded)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9040"/>
            <a:ext cx="457200" cy="4114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9476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D2157"/>
                </a:solidFill>
              </a:rPr>
              <a:t>Run a notebook end-to-end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79476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1">
                <a:solidFill>
                  <a:srgbClr val="5C6F7E"/>
                </a:solidFill>
              </a:rPr>
              <a:t>%pip install + Spark + pandas_udf + MLflow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89120"/>
            <a:ext cx="457200" cy="4114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3484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43484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D2157"/>
                </a:solidFill>
              </a:rPr>
              <a:t>Score an ONNX model at Spark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43484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1">
                <a:solidFill>
                  <a:srgbClr val="5C6F7E"/>
                </a:solidFill>
              </a:rPr>
              <a:t>the headline demo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457200" cy="4114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7492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07492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D2157"/>
                </a:solidFill>
              </a:rPr>
              <a:t>Know what comes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07492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1">
                <a:solidFill>
                  <a:srgbClr val="5C6F7E"/>
                </a:solidFill>
              </a:rPr>
              <a:t>Workflows, MLflow Registry, Unity Catalog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 · What is Databricks?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 i="0">
                <a:solidFill>
                  <a:srgbClr val="0D2157"/>
                </a:solidFill>
              </a:rPr>
              <a:t>One-sentence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515600" cy="1828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2000" b="1">
                <a:solidFill>
                  <a:srgbClr val="1565C0"/>
                </a:solidFill>
              </a:rPr>
              <a:t>"Databricks is a managed workspace that runs Spark + Delta + MLflow."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5156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 i="0">
                <a:solidFill>
                  <a:srgbClr val="0D2157"/>
                </a:solidFill>
              </a:rPr>
              <a:t>Translation:
•  Spark — the engine that splits computation across a cluster
•  Delta — the storage format that makes a cloud bucket act like a database
•  MLflow — the model-lifecycle tracker (experiments, runs, registry)
•  Databricks — the UI + cluster manager wrapping all of the above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 · What is Databricks?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 i="0">
                <a:solidFill>
                  <a:srgbClr val="0D2157"/>
                </a:solidFill>
              </a:rPr>
              <a:t>What it isn't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C6F7E"/>
                </a:solidFill>
              </a:rPr>
              <a:t>Three things people often conflate with Databricks — they're related but separate.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10896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</a:rPr>
              <a:t>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926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1">
                <a:solidFill>
                  <a:srgbClr val="5C6F7E"/>
                </a:solidFill>
              </a:rPr>
              <a:t>(not Databricks)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48840"/>
            <a:ext cx="78638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Data warehouse. Stores + queries data. Doesn't train models. Doesn't run Spark.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91840"/>
            <a:ext cx="310896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</a:rPr>
              <a:t>AWS SageMaker / Azure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2926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1">
                <a:solidFill>
                  <a:srgbClr val="5C6F7E"/>
                </a:solidFill>
              </a:rPr>
              <a:t>(not Databricks)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29000"/>
            <a:ext cx="78638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Managed ML platforms. Compete with Databricks for the ML workflow specifically.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310896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</a:rPr>
              <a:t>Vanilla Apache Spark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2926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1">
                <a:solidFill>
                  <a:srgbClr val="5C6F7E"/>
                </a:solidFill>
              </a:rPr>
              <a:t>(not Databricks)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709160"/>
            <a:ext cx="78638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What's underneath. Free + open source. Lacks the UI, Delta, MLflow, governance.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 · What is Databricks?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0D2157"/>
                </a:solidFill>
              </a:rPr>
              <a:t>Free Edition — the no-credit-card on-ramp</a:t>
            </a:r>
          </a:p>
        </p:txBody>
      </p:sp>
      <p:pic>
        <p:nvPicPr>
          <p:cNvPr id="7" name="Picture 6" descr="01-free-edition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1280160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565C0"/>
                </a:solidFill>
              </a:rPr>
              <a:t>What you 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737360"/>
            <a:ext cx="640080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 i="0">
                <a:solidFill>
                  <a:srgbClr val="0D2157"/>
                </a:solidFill>
              </a:rPr>
              <a:t>•  Full workspace UI
•  Notebooks (Python / SQL / Scala / R)
•  Serverless cluster (shared, on-demand)
•  Delta tables
•  MLflow
•  No credit card; no time limit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4937760"/>
            <a:ext cx="6400800" cy="11887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1">
                <a:solidFill>
                  <a:srgbClr val="F57F17"/>
                </a:solidFill>
              </a:rPr>
              <a:t>Databricks renamed Community Edition to Free Edition in 2025. Same idea, slightly different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 · What is Databricks?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0D2157"/>
                </a:solidFill>
              </a:rPr>
              <a:t>Signing up</a:t>
            </a:r>
          </a:p>
        </p:txBody>
      </p:sp>
      <p:pic>
        <p:nvPicPr>
          <p:cNvPr id="7" name="Picture 6" descr="02-signup-form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1280160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i="0">
                <a:solidFill>
                  <a:srgbClr val="1565C0"/>
                </a:solidFill>
              </a:rPr>
              <a:t>Three ways to sign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828800"/>
            <a:ext cx="64008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 i="0">
                <a:solidFill>
                  <a:srgbClr val="0D2157"/>
                </a:solidFill>
              </a:rPr>
              <a:t>1.  Continue with Google
2.  Continue with Microsoft
3.  Email + password
Email verification follows.
Then a few profile fields (name, role).
Then a workspace gets provisioned.
Total: ~5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 · Hello,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8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0D2157"/>
                </a:solidFill>
              </a:rPr>
              <a:t>The workspace — your home base</a:t>
            </a:r>
          </a:p>
        </p:txBody>
      </p:sp>
      <p:pic>
        <p:nvPicPr>
          <p:cNvPr id="7" name="Picture 6" descr="workspac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097280"/>
            <a:ext cx="8686800" cy="49926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217920"/>
            <a:ext cx="11247120" cy="4572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1565C0"/>
                </a:solidFill>
              </a:rPr>
              <a:t>Left sidebar: Catalog (data) · Workspace (notebooks) · Compute (clusters) · Workflows · Experiments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 · Hello,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0D2157"/>
                </a:solidFill>
              </a:rPr>
              <a:t>Catalog — your data</a:t>
            </a:r>
          </a:p>
        </p:txBody>
      </p:sp>
      <p:pic>
        <p:nvPicPr>
          <p:cNvPr id="7" name="Picture 6" descr="catalog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097280"/>
            <a:ext cx="8686800" cy="49926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217920"/>
            <a:ext cx="11247120" cy="4572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1565C0"/>
                </a:solidFill>
              </a:rPr>
              <a:t>Schemas · Tables (Delta + non-Delta) · Volumes · Uploaded files (paid).  Today's demo embeds the .onnx + .csv in the notebook — FE disables /FileStore.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 · Hello,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10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0D2157"/>
                </a:solidFill>
              </a:rPr>
              <a:t>The notebook — your IDE</a:t>
            </a:r>
          </a:p>
        </p:txBody>
      </p:sp>
      <p:pic>
        <p:nvPicPr>
          <p:cNvPr id="7" name="Picture 6" descr="notebook-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097280"/>
            <a:ext cx="8686800" cy="49926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217920"/>
            <a:ext cx="11247120" cy="4572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1565C0"/>
                </a:solidFill>
              </a:rPr>
              <a:t>Cell-by-cell execution. Mix languages: Python, SQL, Scala, R, markdown. Each cell shares state with prior cells.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 · Hello,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0D2157"/>
                </a:solidFill>
              </a:rPr>
              <a:t>Spark DataFrames: pandas at cluster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C6F7E"/>
                </a:solidFill>
              </a:rPr>
              <a:t>Familiar API; distributed compute behind the scenes.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5C6F7E"/>
                </a:solidFill>
              </a:rPr>
              <a:t>pandas (one machine)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12064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0D2157"/>
                </a:solidFill>
              </a:rPr>
              <a:t>import pandas as pd
df = pd.read_csv('data.csv')
df.head()
(df[df.churn == 1]
   .groupby('contract')
   .monthly.mean())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PySpark (whole cluster)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512064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0D2157"/>
                </a:solidFill>
              </a:rPr>
              <a:t>from pyspark.sql.functions import *
df = spark.read.csv('data.csv', header=True)
df.show(5)
(df.filter(col('churn') == 1)
   .groupBy('contract')
   .agg(avg('monthly').alias('avg_m'))).show()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 · Hello,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0D2157"/>
                </a:solidFill>
              </a:rPr>
              <a:t>Delta Lake: a database that lives in cloud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C6F7E"/>
                </a:solidFill>
              </a:rPr>
              <a:t>Save a DataFrame once; query it with SQL forever.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1247120" cy="2286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# write
df.write.format('delta').saveAsTable('telco_churn_test')
# read back with SQL
spark.sql('SELECT COUNT(*) FROM telco_churn_test').show()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1">
                <a:solidFill>
                  <a:srgbClr val="1565C0"/>
                </a:solidFill>
              </a:rPr>
              <a:t>ACID transactions + time travel + schema enforcement. Free, open source, included with Databricks.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 · The headline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13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0D2157"/>
                </a:solidFill>
              </a:rPr>
              <a:t>The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2011680" cy="1463040"/>
          </a:xfrm>
          <a:prstGeom prst="rect">
            <a:avLst/>
          </a:prstGeom>
          <a:solidFill>
            <a:srgbClr val="F4F6F9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1565C0"/>
                </a:solidFill>
              </a:rPr>
              <a:t>AiDotNet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5C6F7E"/>
                </a:solidFill>
              </a:rPr>
              <a:t>in .NET
(train + export)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43200"/>
            <a:ext cx="2011680" cy="1463040"/>
          </a:xfrm>
          <a:prstGeom prst="rect">
            <a:avLst/>
          </a:prstGeom>
          <a:solidFill>
            <a:srgbClr val="F4F6F9"/>
          </a:solidFill>
          <a:ln w="12700">
            <a:solidFill>
              <a:srgbClr val="F57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97180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57F17"/>
                </a:solidFill>
              </a:rPr>
              <a:t>ONNX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74720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5C6F7E"/>
                </a:solidFill>
              </a:rPr>
              <a:t>model artifact
(portable)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743200"/>
            <a:ext cx="2011680" cy="1463040"/>
          </a:xfrm>
          <a:prstGeom prst="rect">
            <a:avLst/>
          </a:prstGeom>
          <a:solidFill>
            <a:srgbClr val="F4F6F9"/>
          </a:solidFill>
          <a:ln w="12700">
            <a:solidFill>
              <a:srgbClr val="5C6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97180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5C6F7E"/>
                </a:solidFill>
              </a:rPr>
              <a:t>DBFS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474720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5C6F7E"/>
                </a:solidFill>
              </a:rPr>
              <a:t>upload to
Databricks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743200"/>
            <a:ext cx="2011680" cy="1463040"/>
          </a:xfrm>
          <a:prstGeom prst="rect">
            <a:avLst/>
          </a:prstGeom>
          <a:solidFill>
            <a:srgbClr val="F4F6F9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97180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1565C0"/>
                </a:solidFill>
              </a:rPr>
              <a:t>Spark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474720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5C6F7E"/>
                </a:solidFill>
              </a:rPr>
              <a:t>load + score
at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743200"/>
            <a:ext cx="2011680" cy="1463040"/>
          </a:xfrm>
          <a:prstGeom prst="rect">
            <a:avLst/>
          </a:prstGeom>
          <a:solidFill>
            <a:srgbClr val="F4F6F9"/>
          </a:solidFill>
          <a:ln w="12700">
            <a:solidFill>
              <a:srgbClr val="0D2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97180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0D2157"/>
                </a:solidFill>
              </a:rPr>
              <a:t>Delta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474720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>
                <a:solidFill>
                  <a:srgbClr val="5C6F7E"/>
                </a:solidFill>
              </a:rPr>
              <a:t>results table
+ MLflow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423160" y="3337560"/>
            <a:ext cx="365760" cy="274320"/>
          </a:xfrm>
          <a:prstGeom prst="rightArrow">
            <a:avLst/>
          </a:prstGeom>
          <a:solidFill>
            <a:srgbClr val="5C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4709160" y="3337560"/>
            <a:ext cx="365760" cy="274320"/>
          </a:xfrm>
          <a:prstGeom prst="rightArrow">
            <a:avLst/>
          </a:prstGeom>
          <a:solidFill>
            <a:srgbClr val="5C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6995160" y="3337560"/>
            <a:ext cx="365760" cy="274320"/>
          </a:xfrm>
          <a:prstGeom prst="rightArrow">
            <a:avLst/>
          </a:prstGeom>
          <a:solidFill>
            <a:srgbClr val="5C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9281160" y="3337560"/>
            <a:ext cx="365760" cy="274320"/>
          </a:xfrm>
          <a:prstGeom prst="rightArrow">
            <a:avLst/>
          </a:prstGeom>
          <a:solidFill>
            <a:srgbClr val="5C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1565C0"/>
                </a:solidFill>
              </a:rPr>
              <a:t>The teaching point: any model that can export to ONNX (PyTorch, scikit-learn, ML.NET, AiDotNet) deploys to Databricks the same 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 · The headline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0D2157"/>
                </a:solidFill>
              </a:rPr>
              <a:t>Step 1: install onnxruntime in the cluster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0">
                <a:solidFill>
                  <a:srgbClr val="0D2157"/>
                </a:solidFill>
              </a:rPr>
              <a:t>%pip install onnxruntime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471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%pip is a Databricks notebook magic. It installs the package on every cluster node AND restarts the Python interpreter for the notebook so subsequent cells see the new package.
Without %pip: import onnxruntime fails — the package isn't on the default Free-Edition Python path.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 · The headline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0D2157"/>
                </a:solidFill>
              </a:rPr>
              <a:t>Step 2-3: load CSV → Delta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47120" cy="23774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df = (spark.read
        .option('header', True)
        .option('inferSchema', True)
        .csv('file://' + CSV_PATH))
df.write.format('delta').mode('overwrite').saveAsTable('telco_churn_test')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11247120" cy="16459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1">
                <a:solidFill>
                  <a:srgbClr val="1565C0"/>
                </a:solidFill>
              </a:rPr>
              <a:t>The CSV is now a queryable, ACID-transactional Delta table. Anyone in the workspace can SELECT from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 · The headline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0D2157"/>
                </a:solidFill>
              </a:rPr>
              <a:t>Step 4: pandas_udf — ONNX inference at Spark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3657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0D2157"/>
                </a:solidFill>
              </a:rPr>
              <a:t>with open('/tmp/telco_churn.onnx', 'rb') as f:
    model_bytes = f.read()
bc_model = spark.sparkContext.broadcast(model_bytes)
_cache = {}
def _sess():
    if 's' not in _cache:
        import onnxruntime as ort
        _cache['s'] = ort.InferenceSession(bc_model.value)
    return _cache['s']
@pandas_udf(FloatType())
def predict(a, b, c, d):
    X = np.column_stack([a, b, c, d]).astype(np.float32)
    return pd.Series(_sess().run(None, {'input': X})[0].flatten())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12080"/>
            <a:ext cx="11247120" cy="10972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1565C0"/>
                </a:solidFill>
              </a:rPr>
              <a:t>Broadcast the model bytes once; lazily build the session per worker; pandas_udf vectorises the inference loop.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 · The headline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0D2157"/>
                </a:solidFill>
              </a:rPr>
              <a:t>Step 5-6: apply + verify parity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47120" cy="23774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0D2157"/>
                </a:solidFill>
              </a:rPr>
              <a:t>scored = (
    spark.table('telco_churn_test')
         .withColumn('onnx_prediction',
             predict(col('tenure_norm'), col('monthly_norm'),
                     col('total_norm'),  col('contract_norm'))))
scored.show(10)
# assert no mismatches above 1e-3 vs the AiDotNet-recorded predictions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11247120" cy="16459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400" b="1">
                <a:solidFill>
                  <a:srgbClr val="1565C0"/>
                </a:solidFill>
              </a:rPr>
              <a:t>The model behaves identically inside Databricks as it did in .NET. That's the demo.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 · The headline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18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0D2157"/>
                </a:solidFill>
              </a:rPr>
              <a:t>Step 7: log to MLflow</a:t>
            </a:r>
          </a:p>
        </p:txBody>
      </p:sp>
      <p:pic>
        <p:nvPicPr>
          <p:cNvPr id="7" name="Picture 6" descr="mlflow-experi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097280"/>
            <a:ext cx="8686800" cy="49926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217920"/>
            <a:ext cx="11247120" cy="4572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1565C0"/>
                </a:solidFill>
              </a:rPr>
              <a:t>Tracks: timestamp · params · metrics · the .onnx artifact · permanent audit trail.  Paid tier adds Model Registry for versioning + staging→production promotion.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 · What you'd build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0D2157"/>
                </a:solidFill>
              </a:rPr>
              <a:t>From demo to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28600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2103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47088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0D2157"/>
                </a:solidFill>
              </a:rPr>
              <a:t>Schedule the notebook nightly or trigger on file arrival.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847088"/>
            <a:ext cx="1188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i="0">
                <a:solidFill>
                  <a:srgbClr val="5C6F7E"/>
                </a:solidFill>
              </a:rPr>
              <a:t>Paid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228600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15768"/>
            <a:ext cx="2103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Model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15768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0D2157"/>
                </a:solidFill>
              </a:rPr>
              <a:t>Versioned .onnx artifacts; promote staging →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715768"/>
            <a:ext cx="1188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i="0">
                <a:solidFill>
                  <a:srgbClr val="0D2157"/>
                </a:solidFill>
              </a:rPr>
              <a:t>Free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228600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84448"/>
            <a:ext cx="2103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Unity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84448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0D2157"/>
                </a:solidFill>
              </a:rPr>
              <a:t>Per-table / per-column access control across the workspace.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3584448"/>
            <a:ext cx="1188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i="0">
                <a:solidFill>
                  <a:srgbClr val="5C6F7E"/>
                </a:solidFill>
              </a:rPr>
              <a:t>Paid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43400"/>
            <a:ext cx="228600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53128"/>
            <a:ext cx="2103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Auto Loader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453128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0D2157"/>
                </a:solidFill>
              </a:rPr>
              <a:t>Pick up new files from cloud storage as they land.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4453128"/>
            <a:ext cx="1188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i="0">
                <a:solidFill>
                  <a:srgbClr val="5C6F7E"/>
                </a:solidFill>
              </a:rPr>
              <a:t>Paid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12080"/>
            <a:ext cx="228600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21808"/>
            <a:ext cx="2103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Genie / 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321808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0D2157"/>
                </a:solidFill>
              </a:rPr>
              <a:t>Natural-language queries + dashboards over your Delta tables.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5321808"/>
            <a:ext cx="1188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i="0">
                <a:solidFill>
                  <a:srgbClr val="5C6F7E"/>
                </a:solidFill>
              </a:rPr>
              <a:t>Paid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 · What you'd build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20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0D2157"/>
                </a:solidFill>
              </a:rPr>
              <a:t>Homework (next 2-3 weeks)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457200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452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Load a different ONNX model (MNIST) in the same notebook.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457200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1460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Replace inferSchema with an explicit Spark StructType.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457200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5468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Add a Spark feature-engineering step before the UDF call.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49040"/>
            <a:ext cx="457200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79476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Save predictions back to a new Delta table; query with SQL.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89120"/>
            <a:ext cx="457200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3484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Train on real data, with whatever .NET stack you prefer.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457200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07492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0D2157"/>
                </a:solidFill>
              </a:rPr>
              <a:t>Stretch: schedule the notebook as a Databricks Job.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 · Hand-off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73152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21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1">
                <a:solidFill>
                  <a:srgbClr val="5C6F7E"/>
                </a:solidFill>
              </a:rPr>
              <a:t>Databricks intro + AiDotNet → ONNX  ·  internal team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0D2157"/>
                </a:solidFill>
              </a:rPr>
              <a:t>Take-home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1">
                <a:solidFill>
                  <a:srgbClr val="5C6F7E"/>
                </a:solidFill>
              </a:rPr>
              <a:t>All live in the AiDotNet repo under samples/deployment/TelcoChurnOnnxExport/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411480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931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dev_cheatsheet.pdf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7132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0D2157"/>
                </a:solidFill>
              </a:rPr>
              <a:t>Single landscape page — PySpark, CLI, ONNX UDF code. Print + pin.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411480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931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telco_churn_databricks_demo.ipynb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834640"/>
            <a:ext cx="7132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0D2157"/>
                </a:solidFill>
              </a:rPr>
              <a:t>The notebook from today. Re-run it on your own account.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411480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3931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telco_churn.onnx + 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566160"/>
            <a:ext cx="7132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0D2157"/>
                </a:solidFill>
              </a:rPr>
              <a:t>Standalone copies of the model + test data (also embedded in the notebook).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06240"/>
            <a:ext cx="411480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931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verify_locally.py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297680"/>
            <a:ext cx="7132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0D2157"/>
                </a:solidFill>
              </a:rPr>
              <a:t>Sanity-check the .onnx outside Databricks (pure Python + onnxruntime).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411480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931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HOMEWORK.md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029200"/>
            <a:ext cx="7132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0D2157"/>
                </a:solidFill>
              </a:rPr>
              <a:t>5 exercises + 1 stretch. Bring questions to the next session.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669280"/>
            <a:ext cx="411480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3931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FAQ.md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760720"/>
            <a:ext cx="7132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0D2157"/>
                </a:solidFill>
              </a:rPr>
              <a:t>Questions we didn't have time for live.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 i="1">
                <a:solidFill>
                  <a:srgbClr val="BDD7F0"/>
                </a:solidFill>
              </a:rPr>
              <a:t>Drop deeper ones in #training and we'll cover them next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